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  <a:p>
            <a:r>
              <a:t>- /Users/rosenth/ProgDev/OLDAP/FasnachtsPage/src/lib/assets/ARCHIVBild.jpg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  <a:p>
            <a:r>
              <a:t>- /Users/rosenth/.codex/attachments/f44b2e5f-cbfb-4c54-8854-328cd24d85eb/pasted-text.txt</a:t>
            </a:r>
          </a:p>
          <a:p>
            <a:r>
              <a:t>- /Users/rosenth/ProgDev/OLDAP/FasnachtsPage/src/lib/assets/laterne1.jpg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  <a:p>
            <a:r>
              <a:t>- /Users/rosenth/ProgDev/OLDAP/FasnachtsPage/src/lib/assets/Morgenstreich.jpg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  <a:p>
            <a:r>
              <a:t>- /Users/rosenth/.codex/attachments/f44b2e5f-cbfb-4c54-8854-328cd24d85eb/pasted-text.txt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/Users/rosenth/ProgDev/OLDAP/FasnachtsPage/Wizardplanung.md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175BCFB5-159E-4BF5-87AD-AC835268990A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Das digitale Archiv
beginnt mit dem Medium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AD9FE9DC-506F-41CF-8276-8E3863FD7508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Ein einfaches Datenmodell für Fotos, Objekte und Anlässe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14ACAB77-A651-4D29-8ED2-E66A6F518975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DOKUMENTATION BASLER FASNACHT</a:t>
            </a:r>
          </a:p>
        </p:txBody>
      </p:sp>
    </p:spTree>
    <p:extLst>
      <p:ext uri="{BB962C8B-B14F-4D97-AF65-F5344CB8AC3E}">
        <p14:creationId xmlns:p14="http://schemas.microsoft.com/office/powerpoint/2010/main" val="173661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-Shape-532-p58-2">
            <a:extLst>
              <a:ext uri="{FF2B5EF4-FFF2-40B4-BE49-F238E27FC236}">
                <a16:creationId xmlns:a16="http://schemas.microsoft.com/office/drawing/2014/main" id="{6A571009-633E-410E-85AA-D30C8CFB2F0F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A26A908A-A6C0-49AB-853E-B3E3EBF14FD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Drei Dinge beantworten drei einfache Fragen</a:t>
            </a:r>
          </a:p>
        </p:txBody>
      </p:sp>
      <p:sp>
        <p:nvSpPr>
          <p:cNvPr id="3" name="Google-Shape-558-p61-4">
            <a:extLst>
              <a:ext uri="{FF2B5EF4-FFF2-40B4-BE49-F238E27FC236}">
                <a16:creationId xmlns:a16="http://schemas.microsoft.com/office/drawing/2014/main" id="{BA713E25-6EAA-4108-91E3-0FD23F028B94}"/>
              </a:ext>
            </a:extLst>
          </p:cNvPr>
          <p:cNvSpPr>
            <a:spLocks noGrp="1"/>
          </p:cNvSpPr>
          <p:nvPr/>
        </p:nvSpPr>
        <p:spPr>
          <a:xfrm>
            <a:off x="3936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MEDIUM
Was liegt digital vor?
Foto, Scan, Video, Ton oder PDF</a:t>
            </a:r>
          </a:p>
        </p:txBody>
      </p:sp>
      <p:sp>
        <p:nvSpPr>
          <p:cNvPr id="4" name="Google-Shape-559-p61-5">
            <a:extLst>
              <a:ext uri="{FF2B5EF4-FFF2-40B4-BE49-F238E27FC236}">
                <a16:creationId xmlns:a16="http://schemas.microsoft.com/office/drawing/2014/main" id="{338A9DF9-A3FE-482E-B214-A9CDC4176E66}"/>
              </a:ext>
            </a:extLst>
          </p:cNvPr>
          <p:cNvSpPr>
            <a:spLocks noGrp="1"/>
          </p:cNvSpPr>
          <p:nvPr/>
        </p:nvSpPr>
        <p:spPr>
          <a:xfrm>
            <a:off x="43179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GEGENSTAND / WERK
Was ist es?
Laterne, Larve, Protokoll, Buch oder Marsch</a:t>
            </a:r>
          </a:p>
        </p:txBody>
      </p:sp>
      <p:sp>
        <p:nvSpPr>
          <p:cNvPr id="5" name="Google-Shape-560-p61-6">
            <a:extLst>
              <a:ext uri="{FF2B5EF4-FFF2-40B4-BE49-F238E27FC236}">
                <a16:creationId xmlns:a16="http://schemas.microsoft.com/office/drawing/2014/main" id="{02DE3CF2-F100-4330-805B-8099DF001286}"/>
              </a:ext>
            </a:extLst>
          </p:cNvPr>
          <p:cNvSpPr>
            <a:spLocks noGrp="1"/>
          </p:cNvSpPr>
          <p:nvPr/>
        </p:nvSpPr>
        <p:spPr>
          <a:xfrm>
            <a:off x="8232267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ANLASS
Was ist geschehen?
Cortège, Morgenstreich, Bummel oder Auftritt</a:t>
            </a:r>
          </a:p>
        </p:txBody>
      </p:sp>
      <p:sp>
        <p:nvSpPr>
          <p:cNvPr id="6" name="Google-Shape-561-p61-7">
            <a:extLst>
              <a:ext uri="{FF2B5EF4-FFF2-40B4-BE49-F238E27FC236}">
                <a16:creationId xmlns:a16="http://schemas.microsoft.com/office/drawing/2014/main" id="{E036A0CA-5CD1-4A12-B842-AF14FB101E51}"/>
              </a:ext>
            </a:extLst>
          </p:cNvPr>
          <p:cNvSpPr>
            <a:spLocks noGrp="1"/>
          </p:cNvSpPr>
          <p:nvPr/>
        </p:nvSpPr>
        <p:spPr>
          <a:xfrm>
            <a:off x="4279868" y="3382328"/>
            <a:ext cx="315563" cy="353854"/>
          </a:xfrm>
          <a:custGeom>
            <a:avLst/>
            <a:gdLst/>
            <a:ahLst/>
            <a:cxnLst/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Google-Shape-562-p61-8">
            <a:extLst>
              <a:ext uri="{FF2B5EF4-FFF2-40B4-BE49-F238E27FC236}">
                <a16:creationId xmlns:a16="http://schemas.microsoft.com/office/drawing/2014/main" id="{ABAE6C36-EDCD-491E-923F-4626B15E373F}"/>
              </a:ext>
            </a:extLst>
          </p:cNvPr>
          <p:cNvSpPr>
            <a:spLocks noGrp="1"/>
          </p:cNvSpPr>
          <p:nvPr/>
        </p:nvSpPr>
        <p:spPr>
          <a:xfrm>
            <a:off x="401384" y="3378232"/>
            <a:ext cx="327089" cy="362045"/>
          </a:xfrm>
          <a:custGeom>
            <a:avLst/>
            <a:gdLst/>
            <a:ahLst/>
            <a:cxnLst/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Google-Shape-563-p61-9">
            <a:extLst>
              <a:ext uri="{FF2B5EF4-FFF2-40B4-BE49-F238E27FC236}">
                <a16:creationId xmlns:a16="http://schemas.microsoft.com/office/drawing/2014/main" id="{D6918FD1-D229-478B-A4F7-BE0D0DFC3DBC}"/>
              </a:ext>
            </a:extLst>
          </p:cNvPr>
          <p:cNvSpPr>
            <a:spLocks noGrp="1"/>
          </p:cNvSpPr>
          <p:nvPr/>
        </p:nvSpPr>
        <p:spPr>
          <a:xfrm>
            <a:off x="8231600" y="3406807"/>
            <a:ext cx="338614" cy="270891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2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-Shape-532-p58-2">
            <a:extLst>
              <a:ext uri="{FF2B5EF4-FFF2-40B4-BE49-F238E27FC236}">
                <a16:creationId xmlns:a16="http://schemas.microsoft.com/office/drawing/2014/main" id="{63D1A98A-B293-4F2B-A5DA-E8D24163FC5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667BD497-D55B-44AC-9DB3-6D2129DCF02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Ein Foto darf allein stehen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A04DF42C-0FB9-46D0-A7E9-33705F663E00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781F1504-D4C4-4EE1-8AC7-6CE2343021FF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ARCHIVMEDIUM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Wir </a:t>
            </a:r>
            <a:r>
              <a:rPr dirty="0" err="1"/>
              <a:t>beschreiben</a:t>
            </a:r>
            <a:r>
              <a:rPr dirty="0"/>
              <a:t>, was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bekannt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:
• </a:t>
            </a:r>
            <a:r>
              <a:rPr dirty="0" err="1"/>
              <a:t>aussagekräftiger</a:t>
            </a:r>
            <a:r>
              <a:rPr dirty="0"/>
              <a:t> Titel
• </a:t>
            </a:r>
            <a:r>
              <a:rPr dirty="0" err="1"/>
              <a:t>kurze</a:t>
            </a:r>
            <a:r>
              <a:rPr dirty="0"/>
              <a:t> </a:t>
            </a:r>
            <a:r>
              <a:rPr dirty="0" err="1"/>
              <a:t>Beschreibung</a:t>
            </a:r>
            <a:r>
              <a:rPr dirty="0"/>
              <a:t>
• Datum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Zeitraum</a:t>
            </a:r>
            <a:r>
              <a:rPr dirty="0"/>
              <a:t>
• Ort
• </a:t>
            </a:r>
            <a:r>
              <a:rPr dirty="0" err="1"/>
              <a:t>Urheber:in</a:t>
            </a:r>
            <a:r>
              <a:rPr dirty="0"/>
              <a:t>
• </a:t>
            </a:r>
            <a:r>
              <a:rPr dirty="0" err="1"/>
              <a:t>dargestellte</a:t>
            </a:r>
            <a:r>
              <a:rPr dirty="0"/>
              <a:t> </a:t>
            </a:r>
            <a:r>
              <a:rPr dirty="0" err="1"/>
              <a:t>Organisationen</a:t>
            </a:r>
            <a:r>
              <a:rPr dirty="0"/>
              <a:t>
• </a:t>
            </a:r>
            <a:r>
              <a:rPr dirty="0" err="1"/>
              <a:t>Themen</a:t>
            </a:r>
            <a:r>
              <a:rPr dirty="0"/>
              <a:t> und Rechte</a:t>
            </a:r>
          </a:p>
        </p:txBody>
      </p:sp>
      <p:sp>
        <p:nvSpPr>
          <p:cNvPr id="6" name="caption">
            <a:extLst>
              <a:ext uri="{FF2B5EF4-FFF2-40B4-BE49-F238E27FC236}">
                <a16:creationId xmlns:a16="http://schemas.microsoft.com/office/drawing/2014/main" id="{1A4BE264-51A6-44EF-B73E-5012FC04DB6A}"/>
              </a:ext>
            </a:extLst>
          </p:cNvPr>
          <p:cNvSpPr>
            <a:spLocks noGrp="1"/>
          </p:cNvSpPr>
          <p:nvPr/>
        </p:nvSpPr>
        <p:spPr>
          <a:xfrm>
            <a:off x="6477000" y="5457825"/>
            <a:ext cx="5095875" cy="4000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Noch nicht identifiziert? Das ist erlaubt.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9B4589E-BEF0-3E0B-6E8F-89487D3C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52" y="396431"/>
            <a:ext cx="5816871" cy="479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0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CFDFD8D0-39B6-4219-8F89-AD078B77194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2771E29C-06D4-4E49-AEA1-0D9FB53924A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Unbekanntes darf später ergänzt werden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FB9FC3ED-AA84-43BA-A19D-C3ACF251BF6E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9BF174E8-135E-48FA-8277-5CA2B4D6E836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79894A99-6CA9-40B4-890A-4CFB750B8FC4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9D2D1DE4-7F75-4645-B0D9-852E8D4C6197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E818D50C-38E2-4463-BC07-B2AAFE94F60C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B82A2096-E6F4-4A99-8EFF-411CB6C7C9BE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418A7463-DCE6-43F9-95AE-C0347D60AB68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Wissen ergänzen
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Personen, Ort, Clique oder Sujet können später folgen.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8E9DB08E-C48B-41D6-B22E-8E42B5F30E0C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Medium erfassen
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Das Foto wird sofort sinnvoll auffindbar.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BC37580C-1CCD-4975-ADF0-B41D0A7F4D8D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Bei Bedarf verknüpfen
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Mit einem Gegenstand, einem Anlass – oder mit beidem.</a:t>
            </a:r>
          </a:p>
        </p:txBody>
      </p:sp>
    </p:spTree>
    <p:extLst>
      <p:ext uri="{BB962C8B-B14F-4D97-AF65-F5344CB8AC3E}">
        <p14:creationId xmlns:p14="http://schemas.microsoft.com/office/powerpoint/2010/main" val="101710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DB271E6A-C69B-4C95-AB27-E06EC45465C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E74A487D-AA3B-4EAD-819F-22ECAB136B4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Drei Fotos – ein Gegenstand: «Laterne BMG 1920»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1F9075F4-86C8-46CD-AA63-35C0A0C2D41F}"/>
              </a:ext>
            </a:extLst>
          </p:cNvPr>
          <p:cNvSpPr>
            <a:spLocks noGrp="1"/>
          </p:cNvSpPr>
          <p:nvPr/>
        </p:nvSpPr>
        <p:spPr>
          <a:xfrm>
            <a:off x="393668" y="4548249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Titelansicht</a:t>
            </a:r>
            <a:r>
              <a:rPr lang="de-CH" dirty="0"/>
              <a:t> (Vorderseite)</a:t>
            </a:r>
            <a:r>
              <a:rPr dirty="0"/>
              <a:t>
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Das </a:t>
            </a:r>
            <a:r>
              <a:rPr dirty="0" err="1"/>
              <a:t>beste</a:t>
            </a:r>
            <a:r>
              <a:rPr dirty="0"/>
              <a:t> Bild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repräsentative</a:t>
            </a:r>
            <a:r>
              <a:rPr dirty="0"/>
              <a:t> </a:t>
            </a:r>
            <a:r>
              <a:rPr dirty="0" err="1"/>
              <a:t>Ansicht</a:t>
            </a:r>
            <a:r>
              <a:rPr dirty="0"/>
              <a:t> </a:t>
            </a:r>
            <a:r>
              <a:rPr dirty="0" err="1"/>
              <a:t>gewählt</a:t>
            </a:r>
            <a:endParaRPr dirty="0"/>
          </a:p>
        </p:txBody>
      </p:sp>
      <p:sp>
        <p:nvSpPr>
          <p:cNvPr id="4" name="Content-Placeholder-1-5">
            <a:extLst>
              <a:ext uri="{FF2B5EF4-FFF2-40B4-BE49-F238E27FC236}">
                <a16:creationId xmlns:a16="http://schemas.microsoft.com/office/drawing/2014/main" id="{ED03CFF1-D0F9-4BBE-AE87-007C3BFF209C}"/>
              </a:ext>
            </a:extLst>
          </p:cNvPr>
          <p:cNvSpPr>
            <a:spLocks noGrp="1"/>
          </p:cNvSpPr>
          <p:nvPr/>
        </p:nvSpPr>
        <p:spPr>
          <a:xfrm>
            <a:off x="8027894" y="4575703"/>
            <a:ext cx="3891461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de-CH" dirty="0"/>
              <a:t>S/W-Ansicht (komplett)</a:t>
            </a:r>
            <a:r>
              <a:rPr dirty="0"/>
              <a:t>
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de-CH" dirty="0"/>
              <a:t>Hist. S/W-Bild </a:t>
            </a:r>
            <a:r>
              <a:rPr dirty="0" err="1"/>
              <a:t>dokumentiert</a:t>
            </a:r>
            <a:r>
              <a:rPr dirty="0"/>
              <a:t> </a:t>
            </a:r>
            <a:r>
              <a:rPr lang="de-CH" dirty="0"/>
              <a:t>ganze Laterne inkl. </a:t>
            </a:r>
            <a:r>
              <a:rPr dirty="0"/>
              <a:t> </a:t>
            </a:r>
            <a:r>
              <a:rPr dirty="0" err="1"/>
              <a:t>Beschriftung</a:t>
            </a:r>
            <a:r>
              <a:rPr dirty="0"/>
              <a:t>.</a:t>
            </a:r>
          </a:p>
        </p:txBody>
      </p:sp>
      <p:sp>
        <p:nvSpPr>
          <p:cNvPr id="5" name="Content-Placeholder-2-6">
            <a:extLst>
              <a:ext uri="{FF2B5EF4-FFF2-40B4-BE49-F238E27FC236}">
                <a16:creationId xmlns:a16="http://schemas.microsoft.com/office/drawing/2014/main" id="{3885C13C-3025-4008-8D91-5AD771A89E7C}"/>
              </a:ext>
            </a:extLst>
          </p:cNvPr>
          <p:cNvSpPr>
            <a:spLocks noGrp="1"/>
          </p:cNvSpPr>
          <p:nvPr/>
        </p:nvSpPr>
        <p:spPr>
          <a:xfrm>
            <a:off x="4311586" y="4575703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de-CH" dirty="0"/>
              <a:t>Rückseite</a:t>
            </a:r>
            <a:r>
              <a:rPr dirty="0"/>
              <a:t>
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Eine </a:t>
            </a:r>
            <a:r>
              <a:rPr dirty="0" err="1"/>
              <a:t>weitere</a:t>
            </a:r>
            <a:r>
              <a:rPr dirty="0"/>
              <a:t> </a:t>
            </a:r>
            <a:r>
              <a:rPr dirty="0" err="1"/>
              <a:t>Aufnahme</a:t>
            </a:r>
            <a:r>
              <a:rPr dirty="0"/>
              <a:t> </a:t>
            </a:r>
            <a:r>
              <a:rPr dirty="0" err="1"/>
              <a:t>zeigt</a:t>
            </a:r>
            <a:r>
              <a:rPr dirty="0"/>
              <a:t> </a:t>
            </a:r>
            <a:r>
              <a:rPr lang="de-CH" dirty="0"/>
              <a:t>die Rückseite</a:t>
            </a:r>
            <a:r>
              <a:rPr dirty="0"/>
              <a:t>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E54E21F7-6A4E-4C34-9238-65CB03B4A7E4}"/>
              </a:ext>
            </a:extLst>
          </p:cNvPr>
          <p:cNvSpPr>
            <a:spLocks noGrp="1"/>
          </p:cNvSpPr>
          <p:nvPr/>
        </p:nvSpPr>
        <p:spPr>
          <a:xfrm>
            <a:off x="2178034" y="4208769"/>
            <a:ext cx="8305800" cy="3238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Alle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drei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Medien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bleiben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einzeln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beschrieben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– und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führen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zum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selben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Archivobjekt</a:t>
            </a:r>
            <a:r>
              <a:rPr sz="13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CD9F997-4928-1220-2ADE-86713AD93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79" y="1155410"/>
            <a:ext cx="2035586" cy="307074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A60F82A-7F2B-778B-7140-9A4D9DB5F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926" y="1101515"/>
            <a:ext cx="1668482" cy="306417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925FE47-D448-99B5-C726-F12E84584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623" y="1094946"/>
            <a:ext cx="1473434" cy="307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9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73A86B4C-8A24-4B81-8EB7-A734F602B887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604CCF5C-7F4B-4BB7-BFCE-623B670F26C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Viele Fotos – ein Anlass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5DBF7B60-0C8C-42E8-A008-8EC83028A539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Picture-3-4"/>
          <p:cNvPicPr>
            <a:picLocks noChangeAspect="1"/>
          </p:cNvPicPr>
          <p:nvPr/>
        </p:nvPicPr>
        <p:blipFill>
          <a:blip r:embed="rId3"/>
          <a:srcRect l="17037" r="17037"/>
          <a:stretch>
            <a:fillRect/>
          </a:stretch>
        </p:blipFill>
        <p:spPr>
          <a:xfrm>
            <a:off x="6269069" y="396431"/>
            <a:ext cx="5539740" cy="5602034"/>
          </a:xfrm>
          <a:prstGeom prst="roundRect">
            <a:avLst/>
          </a:prstGeom>
        </p:spPr>
      </p:pic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E4A57603-C53E-40B3-9293-07EF4472687F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ANLASS: MORGENSTREICH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Der Anlass bündelt gemeinsame Angaben:
• Name und Anlasstyp
• Datum und Zeit
• Ort
• beteiligte Organisationen
• Themen
Jedes Foto behält trotzdem seinen eigenen Titel, Urheber und Aufnahmeort.</a:t>
            </a:r>
          </a:p>
        </p:txBody>
      </p:sp>
    </p:spTree>
    <p:extLst>
      <p:ext uri="{BB962C8B-B14F-4D97-AF65-F5344CB8AC3E}">
        <p14:creationId xmlns:p14="http://schemas.microsoft.com/office/powerpoint/2010/main" val="41319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Number-Placeholder-3-2">
            <a:extLst>
              <a:ext uri="{FF2B5EF4-FFF2-40B4-BE49-F238E27FC236}">
                <a16:creationId xmlns:a16="http://schemas.microsoft.com/office/drawing/2014/main" id="{DA21EF2D-AACB-481B-B98E-FA7F75B5269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49255EDE-3BCA-4FDB-AA91-55FA3D3EF895}"/>
              </a:ext>
            </a:extLst>
          </p:cNvPr>
          <p:cNvSpPr>
            <a:spLocks noGrp="1"/>
          </p:cNvSpPr>
          <p:nvPr/>
        </p:nvSpPr>
        <p:spPr>
          <a:xfrm>
            <a:off x="1865233" y="147066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de-CH" i="1" dirty="0"/>
              <a:t>Goldenes Buch der Basler-Mittwoch-Gesellschaft:</a:t>
            </a:r>
          </a:p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Auch 250 Seiten </a:t>
            </a:r>
            <a:r>
              <a:rPr dirty="0" err="1"/>
              <a:t>bleiben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Werk </a:t>
            </a:r>
            <a:r>
              <a:rPr dirty="0" err="1"/>
              <a:t>verständlich</a:t>
            </a:r>
            <a:endParaRPr dirty="0"/>
          </a:p>
        </p:txBody>
      </p:sp>
      <p:cxnSp>
        <p:nvCxnSpPr>
          <p:cNvPr id="18" name="Google-Shape-2259-p159-4"/>
          <p:cNvCxnSpPr/>
          <p:nvPr/>
        </p:nvCxnSpPr>
        <p:spPr>
          <a:xfrm>
            <a:off x="337757" y="5341620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9C84D4F0-3822-4613-975B-F568DAE86D4D}"/>
              </a:ext>
            </a:extLst>
          </p:cNvPr>
          <p:cNvSpPr>
            <a:spLocks noGrp="1"/>
          </p:cNvSpPr>
          <p:nvPr/>
        </p:nvSpPr>
        <p:spPr>
          <a:xfrm>
            <a:off x="337757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9AE2F080-A4A8-4944-9716-896DD7EB4921}"/>
              </a:ext>
            </a:extLst>
          </p:cNvPr>
          <p:cNvSpPr>
            <a:spLocks noGrp="1"/>
          </p:cNvSpPr>
          <p:nvPr/>
        </p:nvSpPr>
        <p:spPr>
          <a:xfrm>
            <a:off x="4251770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DF38B3C4-8149-4F08-9CF0-4BBB92B093C9}"/>
              </a:ext>
            </a:extLst>
          </p:cNvPr>
          <p:cNvSpPr>
            <a:spLocks noGrp="1"/>
          </p:cNvSpPr>
          <p:nvPr/>
        </p:nvSpPr>
        <p:spPr>
          <a:xfrm>
            <a:off x="8176070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Rounded-Rectangle-19-8">
            <a:extLst>
              <a:ext uri="{FF2B5EF4-FFF2-40B4-BE49-F238E27FC236}">
                <a16:creationId xmlns:a16="http://schemas.microsoft.com/office/drawing/2014/main" id="{2AD8F0FE-D3BF-465B-9CE0-F4B2879D1544}"/>
              </a:ext>
            </a:extLst>
          </p:cNvPr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Content-Placeholder-8-9">
            <a:extLst>
              <a:ext uri="{FF2B5EF4-FFF2-40B4-BE49-F238E27FC236}">
                <a16:creationId xmlns:a16="http://schemas.microsoft.com/office/drawing/2014/main" id="{686F90D5-572D-479D-B008-116B16F561B6}"/>
              </a:ext>
            </a:extLst>
          </p:cNvPr>
          <p:cNvSpPr>
            <a:spLocks noGrp="1"/>
          </p:cNvSpPr>
          <p:nvPr/>
        </p:nvSpPr>
        <p:spPr>
          <a:xfrm>
            <a:off x="703421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ARCHIVOBJEKT
«Goldenes Buch»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Titel, Entstehung, Urheber, Signatur, Themen und Provenienz werden einmal am Werk beschrieben.</a:t>
            </a:r>
          </a:p>
        </p:txBody>
      </p:sp>
      <p:sp>
        <p:nvSpPr>
          <p:cNvPr id="9" name="Rounded-Rectangle-21-10">
            <a:extLst>
              <a:ext uri="{FF2B5EF4-FFF2-40B4-BE49-F238E27FC236}">
                <a16:creationId xmlns:a16="http://schemas.microsoft.com/office/drawing/2014/main" id="{28FD466F-2723-41AF-BAFE-7FA686957E94}"/>
              </a:ext>
            </a:extLst>
          </p:cNvPr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de-DE"/>
          </a:p>
        </p:txBody>
      </p:sp>
      <p:sp>
        <p:nvSpPr>
          <p:cNvPr id="10" name="Content-Placeholder-8-11">
            <a:extLst>
              <a:ext uri="{FF2B5EF4-FFF2-40B4-BE49-F238E27FC236}">
                <a16:creationId xmlns:a16="http://schemas.microsoft.com/office/drawing/2014/main" id="{478D1C90-D8CC-4541-AAD2-4155D14BE90E}"/>
              </a:ext>
            </a:extLst>
          </p:cNvPr>
          <p:cNvSpPr>
            <a:spLocks noGrp="1"/>
          </p:cNvSpPr>
          <p:nvPr/>
        </p:nvSpPr>
        <p:spPr>
          <a:xfrm>
            <a:off x="4618196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CA. 250 MEDIEN
Eine Datei pro Seite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Jede Seite erhält eine Position und bleibt direkt adressierbar und später im Volltext auffindbar.</a:t>
            </a:r>
          </a:p>
        </p:txBody>
      </p:sp>
      <p:sp>
        <p:nvSpPr>
          <p:cNvPr id="11" name="Rounded-Rectangle-23-12">
            <a:extLst>
              <a:ext uri="{FF2B5EF4-FFF2-40B4-BE49-F238E27FC236}">
                <a16:creationId xmlns:a16="http://schemas.microsoft.com/office/drawing/2014/main" id="{F134FA18-FDD4-4CA4-8B41-1EBC7A85B5ED}"/>
              </a:ext>
            </a:extLst>
          </p:cNvPr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de-DE"/>
          </a:p>
        </p:txBody>
      </p:sp>
      <p:sp>
        <p:nvSpPr>
          <p:cNvPr id="12" name="Content-Placeholder-8-13">
            <a:extLst>
              <a:ext uri="{FF2B5EF4-FFF2-40B4-BE49-F238E27FC236}">
                <a16:creationId xmlns:a16="http://schemas.microsoft.com/office/drawing/2014/main" id="{D152659F-833D-4D6A-9303-D8D20D9917F5}"/>
              </a:ext>
            </a:extLst>
          </p:cNvPr>
          <p:cNvSpPr>
            <a:spLocks noGrp="1"/>
          </p:cNvSpPr>
          <p:nvPr/>
        </p:nvSpPr>
        <p:spPr>
          <a:xfrm>
            <a:off x="8547259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ÖFFENTLICHER EINSTIEG
Seitenbetrachter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Die Suche zeigt das Buch gruppiert – nicht 250 gleichwertige Haupttreffer.</a:t>
            </a:r>
          </a:p>
        </p:txBody>
      </p:sp>
      <p:sp>
        <p:nvSpPr>
          <p:cNvPr id="13" name="Text-Placeholder-16-14">
            <a:extLst>
              <a:ext uri="{FF2B5EF4-FFF2-40B4-BE49-F238E27FC236}">
                <a16:creationId xmlns:a16="http://schemas.microsoft.com/office/drawing/2014/main" id="{5F73C44E-039E-4382-95D1-E7506FC889CF}"/>
              </a:ext>
            </a:extLst>
          </p:cNvPr>
          <p:cNvSpPr>
            <a:spLocks noGrp="1"/>
          </p:cNvSpPr>
          <p:nvPr/>
        </p:nvSpPr>
        <p:spPr>
          <a:xfrm>
            <a:off x="4251770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Seiten</a:t>
            </a:r>
          </a:p>
        </p:txBody>
      </p:sp>
      <p:sp>
        <p:nvSpPr>
          <p:cNvPr id="14" name="Text-Placeholder-16-15">
            <a:extLst>
              <a:ext uri="{FF2B5EF4-FFF2-40B4-BE49-F238E27FC236}">
                <a16:creationId xmlns:a16="http://schemas.microsoft.com/office/drawing/2014/main" id="{9AB6B730-1E7A-4D7C-B0F6-E281C8166B2F}"/>
              </a:ext>
            </a:extLst>
          </p:cNvPr>
          <p:cNvSpPr>
            <a:spLocks noGrp="1"/>
          </p:cNvSpPr>
          <p:nvPr/>
        </p:nvSpPr>
        <p:spPr>
          <a:xfrm>
            <a:off x="390906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Werk</a:t>
            </a:r>
          </a:p>
        </p:txBody>
      </p:sp>
      <p:sp>
        <p:nvSpPr>
          <p:cNvPr id="15" name="Text-Placeholder-16-16">
            <a:extLst>
              <a:ext uri="{FF2B5EF4-FFF2-40B4-BE49-F238E27FC236}">
                <a16:creationId xmlns:a16="http://schemas.microsoft.com/office/drawing/2014/main" id="{1592AA17-8762-44D6-B9F4-6E6F6D616B9C}"/>
              </a:ext>
            </a:extLst>
          </p:cNvPr>
          <p:cNvSpPr>
            <a:spLocks noGrp="1"/>
          </p:cNvSpPr>
          <p:nvPr/>
        </p:nvSpPr>
        <p:spPr>
          <a:xfrm>
            <a:off x="8225409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Nutzung</a:t>
            </a:r>
          </a:p>
        </p:txBody>
      </p:sp>
    </p:spTree>
    <p:extLst>
      <p:ext uri="{BB962C8B-B14F-4D97-AF65-F5344CB8AC3E}">
        <p14:creationId xmlns:p14="http://schemas.microsoft.com/office/powerpoint/2010/main" val="154361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EA9255E1-FAB5-4500-81D6-AADA94EE1AD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1FB8B32F-AD66-41F7-B46F-0E9191A2A4AB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Der </a:t>
            </a:r>
            <a:r>
              <a:rPr lang="de-CH" dirty="0"/>
              <a:t>Assistent</a:t>
            </a:r>
            <a:r>
              <a:rPr dirty="0"/>
              <a:t> </a:t>
            </a:r>
            <a:r>
              <a:rPr dirty="0" err="1"/>
              <a:t>fragt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, was Menschen </a:t>
            </a:r>
            <a:r>
              <a:rPr dirty="0" err="1"/>
              <a:t>wissen</a:t>
            </a:r>
            <a:r>
              <a:rPr dirty="0"/>
              <a:t> </a:t>
            </a:r>
            <a:r>
              <a:rPr dirty="0" err="1"/>
              <a:t>können</a:t>
            </a:r>
            <a:endParaRPr dirty="0"/>
          </a:p>
        </p:txBody>
      </p:sp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17963029-55A4-48FD-B0ED-B222CCAE22EB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de-DE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989A9EC7-3B6F-4DCA-A5DC-FC557E918392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MENSCHEN ERGÄNZEN</a:t>
            </a:r>
          </a:p>
        </p:txBody>
      </p:sp>
      <p:sp>
        <p:nvSpPr>
          <p:cNvPr id="5" name="Content-Placeholder-15-6">
            <a:extLst>
              <a:ext uri="{FF2B5EF4-FFF2-40B4-BE49-F238E27FC236}">
                <a16:creationId xmlns:a16="http://schemas.microsoft.com/office/drawing/2014/main" id="{7915420B-51C5-4BD9-ABEF-60899DB99906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Titel, Beschreibung, Datum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Ort, Urheber:in, Organisation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Thema, Gegenstand und Anlass</a:t>
            </a:r>
          </a:p>
        </p:txBody>
      </p:sp>
      <p:sp>
        <p:nvSpPr>
          <p:cNvPr id="6" name="Rounded-Rectangle-7-7">
            <a:extLst>
              <a:ext uri="{FF2B5EF4-FFF2-40B4-BE49-F238E27FC236}">
                <a16:creationId xmlns:a16="http://schemas.microsoft.com/office/drawing/2014/main" id="{BA8F3534-8CD5-459C-8BDD-D12F7CE90519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2F2F2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D381D42A-252D-429B-85F1-D2EE6E8CF833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DAS SYSTEM ERGÄNZT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9191AC25-81C4-4EA0-821C-30D03A2E870C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97793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Dateiformat und Medienform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technische Kennungen und URLs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Status, Standardrechte und Vorschauen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D303E2FD-A0AF-498E-B76E-471985ABCEC9}"/>
              </a:ext>
            </a:extLst>
          </p:cNvPr>
          <p:cNvSpPr>
            <a:spLocks noGrp="1"/>
          </p:cNvSpPr>
          <p:nvPr/>
        </p:nvSpPr>
        <p:spPr>
          <a:xfrm>
            <a:off x="400907" y="1157478"/>
            <a:ext cx="11404568" cy="162925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ARBEITSTEILUNG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Archivierende beschreiben Inhalt und Zusammenhang. Technische Angaben entstehen automatisch beim Upload.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3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59895362-60AE-4C09-8BF5-833696443D20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Heute beschreiben.
Später verbinden.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3FB829E5-38C6-4696-870C-39D03906F133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Nichts erfinden.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Bekanntes strukturiert erfassen.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Zusammenhänge wachsen lassen.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7E092904-3C71-41F9-A14D-4386943EDFED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KERNIDEE</a:t>
            </a:r>
          </a:p>
        </p:txBody>
      </p:sp>
    </p:spTree>
    <p:extLst>
      <p:ext uri="{BB962C8B-B14F-4D97-AF65-F5344CB8AC3E}">
        <p14:creationId xmlns:p14="http://schemas.microsoft.com/office/powerpoint/2010/main" val="383604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Macintosh PowerPoint</Application>
  <DocSecurity>0</DocSecurity>
  <PresentationFormat>Breitbild</PresentationFormat>
  <Paragraphs>89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Calibri</vt:lpstr>
      <vt:lpstr>Helvetica Neue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Lukas Rosenthaler</cp:lastModifiedBy>
  <cp:revision>2</cp:revision>
  <dcterms:created xsi:type="dcterms:W3CDTF">2026-07-28T12:13:41Z</dcterms:created>
  <dcterms:modified xsi:type="dcterms:W3CDTF">2026-07-28T12:31:20Z</dcterms:modified>
</cp:coreProperties>
</file>